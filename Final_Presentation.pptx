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8f4a5bdd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8f4a5bdd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f4a5bdd2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f4a5bdd2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8f4a5bdd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8f4a5bdd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8f4a5bdd2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8f4a5bdd2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8f4a5bdd2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8f4a5bdd2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8f4a5bd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8f4a5bd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8f4a5bdd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8f4a5bdd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4450"/>
            <a:ext cx="9144000" cy="5145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77550" y="0"/>
            <a:ext cx="8520600" cy="11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/>
              <a:t>Task 1: Adversarial Images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2111"/>
              <a:t>The Strategy: Optimized Transferability</a:t>
            </a:r>
            <a:endParaRPr i="1" sz="2111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-197475" y="1222200"/>
            <a:ext cx="3582600" cy="3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fr" sz="1600">
                <a:solidFill>
                  <a:schemeClr val="dk1"/>
                </a:solidFill>
              </a:rPr>
              <a:t>Objective:</a:t>
            </a:r>
            <a:r>
              <a:rPr lang="fr" sz="1600">
                <a:solidFill>
                  <a:schemeClr val="dk1"/>
                </a:solidFill>
              </a:rPr>
              <a:t> Minimize L_2 norm under the constraint of </a:t>
            </a:r>
            <a:r>
              <a:rPr b="1" lang="fr" sz="1600">
                <a:solidFill>
                  <a:schemeClr val="dk1"/>
                </a:solidFill>
              </a:rPr>
              <a:t>Black-Box Transferability</a:t>
            </a:r>
            <a:r>
              <a:rPr lang="fr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fr" sz="1600">
                <a:solidFill>
                  <a:schemeClr val="dk1"/>
                </a:solidFill>
              </a:rPr>
              <a:t>Method:</a:t>
            </a:r>
            <a:r>
              <a:rPr lang="fr" sz="1600">
                <a:solidFill>
                  <a:schemeClr val="dk1"/>
                </a:solidFill>
              </a:rPr>
              <a:t> Binary Search PGD (BS-PGD) with adaptive parameters.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fr" sz="1600">
                <a:solidFill>
                  <a:schemeClr val="dk1"/>
                </a:solidFill>
              </a:rPr>
              <a:t>Why not C&amp;W?</a:t>
            </a:r>
            <a:r>
              <a:rPr lang="fr" sz="1600">
                <a:solidFill>
                  <a:schemeClr val="dk1"/>
                </a:solidFill>
              </a:rPr>
              <a:t> Carlini-Wagner optimizes for the </a:t>
            </a:r>
            <a:r>
              <a:rPr i="1" lang="fr" sz="1600">
                <a:solidFill>
                  <a:schemeClr val="dk1"/>
                </a:solidFill>
              </a:rPr>
              <a:t>local</a:t>
            </a:r>
            <a:r>
              <a:rPr lang="fr" sz="1600">
                <a:solidFill>
                  <a:schemeClr val="dk1"/>
                </a:solidFill>
              </a:rPr>
              <a:t> decision boundary. In a black-box setting, this leads to false positives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125" y="1461600"/>
            <a:ext cx="5758876" cy="3044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77550" y="0"/>
            <a:ext cx="8520600" cy="11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/>
              <a:t>Task 1: Adversarial Images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2111"/>
              <a:t>The Strategy: Optimized Transferability</a:t>
            </a:r>
            <a:endParaRPr i="1" sz="2111"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-47025" y="1071950"/>
            <a:ext cx="3293100" cy="40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b="1" lang="fr" sz="1300">
                <a:solidFill>
                  <a:schemeClr val="dk1"/>
                </a:solidFill>
              </a:rPr>
              <a:t>The Challenge:</a:t>
            </a:r>
            <a:r>
              <a:rPr lang="fr" sz="1300">
                <a:solidFill>
                  <a:schemeClr val="dk1"/>
                </a:solidFill>
              </a:rPr>
              <a:t> Automation failure during the night loop. Result: Overfitting to local surrogates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b="1" lang="fr" sz="1300">
                <a:solidFill>
                  <a:schemeClr val="dk1"/>
                </a:solidFill>
              </a:rPr>
              <a:t>Root Cause:</a:t>
            </a:r>
            <a:r>
              <a:rPr lang="fr" sz="1300">
                <a:solidFill>
                  <a:schemeClr val="dk1"/>
                </a:solidFill>
              </a:rPr>
              <a:t> </a:t>
            </a:r>
            <a:r>
              <a:rPr b="1" lang="fr" sz="1300">
                <a:solidFill>
                  <a:schemeClr val="dk1"/>
                </a:solidFill>
              </a:rPr>
              <a:t>Surrogate Mismatch</a:t>
            </a:r>
            <a:r>
              <a:rPr lang="fr" sz="1300">
                <a:solidFill>
                  <a:schemeClr val="dk1"/>
                </a:solidFill>
              </a:rPr>
              <a:t>. We used upsampled ImageNet models.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</a:rPr>
              <a:t>→ The target was likely a CIFAR-10/MNIST-native architecture.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The Recovery:</a:t>
            </a:r>
            <a:r>
              <a:rPr lang="fr" sz="1300">
                <a:solidFill>
                  <a:schemeClr val="dk1"/>
                </a:solidFill>
              </a:rPr>
              <a:t> </a:t>
            </a:r>
            <a:r>
              <a:rPr b="1" lang="fr" sz="1300">
                <a:solidFill>
                  <a:schemeClr val="dk1"/>
                </a:solidFill>
              </a:rPr>
              <a:t>"Lock &amp; Ram" Strategy</a:t>
            </a:r>
            <a:r>
              <a:rPr lang="fr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fr" sz="1300">
                <a:solidFill>
                  <a:schemeClr val="dk1"/>
                </a:solidFill>
              </a:rPr>
              <a:t>Locked</a:t>
            </a:r>
            <a:r>
              <a:rPr lang="fr" sz="1300">
                <a:solidFill>
                  <a:schemeClr val="dk1"/>
                </a:solidFill>
              </a:rPr>
              <a:t> the low-norm successes.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fr" sz="1300">
                <a:solidFill>
                  <a:schemeClr val="dk1"/>
                </a:solidFill>
              </a:rPr>
              <a:t>Escalated</a:t>
            </a:r>
            <a:r>
              <a:rPr lang="fr" sz="1300">
                <a:solidFill>
                  <a:schemeClr val="dk1"/>
                </a:solidFill>
              </a:rPr>
              <a:t> parameters for the remaining failures (increased epsilon)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fr" sz="1300">
                <a:solidFill>
                  <a:schemeClr val="dk1"/>
                </a:solidFill>
              </a:rPr>
              <a:t>Optimization:</a:t>
            </a:r>
            <a:r>
              <a:rPr lang="fr" sz="1300">
                <a:solidFill>
                  <a:schemeClr val="dk1"/>
                </a:solidFill>
              </a:rPr>
              <a:t> Performed a manual binary search on epsilon for each image 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050" y="1279000"/>
            <a:ext cx="5897951" cy="3439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7887" y="0"/>
            <a:ext cx="9144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>
                <a:solidFill>
                  <a:schemeClr val="dk2"/>
                </a:solidFill>
              </a:rPr>
              <a:t>Task </a:t>
            </a:r>
            <a:r>
              <a:rPr b="1" lang="fr" sz="3600">
                <a:solidFill>
                  <a:schemeClr val="dk2"/>
                </a:solidFill>
              </a:rPr>
              <a:t>2</a:t>
            </a:r>
            <a:r>
              <a:rPr b="1" lang="fr" sz="3100">
                <a:solidFill>
                  <a:schemeClr val="dk2"/>
                </a:solidFill>
              </a:rPr>
              <a:t> </a:t>
            </a:r>
            <a:endParaRPr b="1" sz="3100"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613475" y="1588650"/>
            <a:ext cx="2556000" cy="464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1266275" y="1588650"/>
            <a:ext cx="2272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First Idea: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98942" y="2571750"/>
            <a:ext cx="4089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ConvNext + Image classification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61775" y="3211764"/>
            <a:ext cx="1459800" cy="46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652800" y="3211764"/>
            <a:ext cx="2272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Outlier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485225" y="3211764"/>
            <a:ext cx="1289700" cy="46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2865725" y="3211764"/>
            <a:ext cx="2272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10425" y="4027789"/>
            <a:ext cx="1611300" cy="46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564373" y="4035654"/>
            <a:ext cx="2272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VAR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328975" y="4040530"/>
            <a:ext cx="1611300" cy="46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2682923" y="4040530"/>
            <a:ext cx="2272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RAR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5374575" y="1588650"/>
            <a:ext cx="2556000" cy="464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6027375" y="1588650"/>
            <a:ext cx="2272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Better </a:t>
            </a:r>
            <a:r>
              <a:rPr lang="fr" sz="1800">
                <a:solidFill>
                  <a:schemeClr val="dk1"/>
                </a:solidFill>
              </a:rPr>
              <a:t>Idea: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851597" y="2596448"/>
            <a:ext cx="4089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 Using the specificity of each Model</a:t>
            </a: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1205319" y="4663660"/>
            <a:ext cx="1611300" cy="46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1401955" y="4663650"/>
            <a:ext cx="2272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TAMMING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/>
        </p:nvSpPr>
        <p:spPr>
          <a:xfrm>
            <a:off x="12" y="11"/>
            <a:ext cx="9144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>
                <a:solidFill>
                  <a:schemeClr val="dk2"/>
                </a:solidFill>
              </a:rPr>
              <a:t>Task 2</a:t>
            </a:r>
            <a:r>
              <a:rPr b="1" lang="fr" sz="3100">
                <a:solidFill>
                  <a:schemeClr val="dk2"/>
                </a:solidFill>
              </a:rPr>
              <a:t> </a:t>
            </a:r>
            <a:endParaRPr b="1" sz="3100">
              <a:solidFill>
                <a:schemeClr val="dk2"/>
              </a:solidFill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38500" y="2008600"/>
            <a:ext cx="1611300" cy="4641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893726" y="2016475"/>
            <a:ext cx="11343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VAR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2699197" y="1358775"/>
            <a:ext cx="4089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 Using the specificity of each Model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16821" y="2919721"/>
            <a:ext cx="1611300" cy="4641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613458" y="2919711"/>
            <a:ext cx="2272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TAMMING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2320075" y="2255761"/>
            <a:ext cx="1827600" cy="9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4846875" y="2515711"/>
            <a:ext cx="39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VQ-VAE : Encoder -&gt; Codebook -&gt; Decoder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3928175" y="3383811"/>
            <a:ext cx="5161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Each TEST Image  : The distance between the test image and the decode (encode(image)) → close to 0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10" y="0"/>
            <a:ext cx="9144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>
                <a:solidFill>
                  <a:schemeClr val="dk2"/>
                </a:solidFill>
              </a:rPr>
              <a:t>Task 2</a:t>
            </a:r>
            <a:r>
              <a:rPr b="1" lang="fr" sz="3100">
                <a:solidFill>
                  <a:schemeClr val="dk2"/>
                </a:solidFill>
              </a:rPr>
              <a:t> </a:t>
            </a:r>
            <a:endParaRPr b="1" sz="3100">
              <a:solidFill>
                <a:schemeClr val="dk2"/>
              </a:solidFill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1643718" y="3699374"/>
            <a:ext cx="1459800" cy="46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1803723" y="3699375"/>
            <a:ext cx="1500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Outlier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514016" y="1278874"/>
            <a:ext cx="1289700" cy="46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894516" y="1278874"/>
            <a:ext cx="2272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57766" y="2107640"/>
            <a:ext cx="1611300" cy="46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711714" y="2107640"/>
            <a:ext cx="2272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RAR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2076050" y="1053775"/>
            <a:ext cx="4518300" cy="46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 Fine-tuning ConvNext + Generated Data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2320075" y="1517875"/>
            <a:ext cx="3417000" cy="9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4134950" y="3086475"/>
            <a:ext cx="166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</a:rPr>
              <a:t>Heavy </a:t>
            </a:r>
            <a:r>
              <a:rPr lang="fr" sz="1300">
                <a:solidFill>
                  <a:schemeClr val="dk1"/>
                </a:solidFill>
              </a:rPr>
              <a:t>Safety Nets</a:t>
            </a:r>
            <a:endParaRPr sz="1600"/>
          </a:p>
        </p:txBody>
      </p:sp>
      <p:sp>
        <p:nvSpPr>
          <p:cNvPr id="117" name="Google Shape;117;p18"/>
          <p:cNvSpPr/>
          <p:nvPr/>
        </p:nvSpPr>
        <p:spPr>
          <a:xfrm>
            <a:off x="3373700" y="3471375"/>
            <a:ext cx="3417000" cy="9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6030050" y="1641225"/>
            <a:ext cx="2352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Categorize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6790700" y="3632675"/>
            <a:ext cx="2352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Categorize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232550" y="4497175"/>
            <a:ext cx="573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Maximize the score = outliers have to be right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Task 3 : Watermark Detection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dk1"/>
                </a:solidFill>
              </a:rPr>
              <a:t>Extreme Data Scarcity:</a:t>
            </a:r>
            <a:r>
              <a:rPr lang="fr" sz="2500">
                <a:solidFill>
                  <a:schemeClr val="dk1"/>
                </a:solidFill>
              </a:rPr>
              <a:t> Only 320 training images.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b="1" lang="fr" sz="2500">
                <a:solidFill>
                  <a:schemeClr val="dk1"/>
                </a:solidFill>
              </a:rPr>
              <a:t>Tree-Rings:</a:t>
            </a:r>
            <a:r>
              <a:rPr lang="fr" sz="2500">
                <a:solidFill>
                  <a:schemeClr val="dk1"/>
                </a:solidFill>
              </a:rPr>
              <a:t> Add watermarks in the Fourier Spectrum 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b="1" lang="fr" sz="2500">
                <a:solidFill>
                  <a:schemeClr val="dk1"/>
                </a:solidFill>
              </a:rPr>
              <a:t>BitMark:</a:t>
            </a:r>
            <a:r>
              <a:rPr lang="fr" sz="2500">
                <a:solidFill>
                  <a:schemeClr val="dk1"/>
                </a:solidFill>
              </a:rPr>
              <a:t> Add watermarks by reorganizing imperfections.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b="1" lang="fr" sz="2500">
                <a:solidFill>
                  <a:schemeClr val="dk1"/>
                </a:solidFill>
              </a:rPr>
              <a:t>Stable Signature:</a:t>
            </a:r>
            <a:r>
              <a:rPr lang="fr" sz="2500">
                <a:solidFill>
                  <a:schemeClr val="dk1"/>
                </a:solidFill>
              </a:rPr>
              <a:t> Add watermarks by producing a specific hidden fingerprint in its pixels.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dk1"/>
                </a:solidFill>
              </a:rPr>
              <a:t>1 - </a:t>
            </a:r>
            <a:r>
              <a:rPr b="1" lang="fr" sz="2200">
                <a:solidFill>
                  <a:schemeClr val="dk1"/>
                </a:solidFill>
              </a:rPr>
              <a:t>FFT</a:t>
            </a:r>
            <a:r>
              <a:rPr lang="fr" sz="2200">
                <a:solidFill>
                  <a:schemeClr val="dk1"/>
                </a:solidFill>
              </a:rPr>
              <a:t> → Tree-Rings → transform the image as a signal → high frequency filters to know what Tree-Rings modified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dk1"/>
                </a:solidFill>
              </a:rPr>
              <a:t>2 - </a:t>
            </a:r>
            <a:r>
              <a:rPr b="1" lang="fr" sz="2200">
                <a:solidFill>
                  <a:schemeClr val="dk1"/>
                </a:solidFill>
              </a:rPr>
              <a:t>CNN</a:t>
            </a:r>
            <a:r>
              <a:rPr lang="fr" sz="2200">
                <a:solidFill>
                  <a:schemeClr val="dk1"/>
                </a:solidFill>
              </a:rPr>
              <a:t> → Image - Blurred image = Detailed image and then amplifies what is left to detect the modifications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dk1"/>
                </a:solidFill>
              </a:rPr>
              <a:t>Generate images but it did not work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